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dant Bhalerao" userId="046ee647c074e259" providerId="LiveId" clId="{726427DB-31D6-48E2-B02C-F56CB7D338EB}"/>
    <pc:docChg chg="custSel modSld">
      <pc:chgData name="Vedant Bhalerao" userId="046ee647c074e259" providerId="LiveId" clId="{726427DB-31D6-48E2-B02C-F56CB7D338EB}" dt="2026-10-04T17:28:05.749" v="5" actId="478"/>
      <pc:docMkLst>
        <pc:docMk/>
      </pc:docMkLst>
      <pc:sldChg chg="delSp modSp mod">
        <pc:chgData name="Vedant Bhalerao" userId="046ee647c074e259" providerId="LiveId" clId="{726427DB-31D6-48E2-B02C-F56CB7D338EB}" dt="2026-10-04T17:28:05.749" v="5" actId="478"/>
        <pc:sldMkLst>
          <pc:docMk/>
          <pc:sldMk cId="0" sldId="262"/>
        </pc:sldMkLst>
        <pc:spChg chg="mod">
          <ac:chgData name="Vedant Bhalerao" userId="046ee647c074e259" providerId="LiveId" clId="{726427DB-31D6-48E2-B02C-F56CB7D338EB}" dt="2026-10-04T17:27:49.833" v="0" actId="1076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Vedant Bhalerao" userId="046ee647c074e259" providerId="LiveId" clId="{726427DB-31D6-48E2-B02C-F56CB7D338EB}" dt="2026-10-04T17:28:05.749" v="5" actId="478"/>
          <ac:spMkLst>
            <pc:docMk/>
            <pc:sldMk cId="0" sldId="262"/>
            <ac:spMk id="2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5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584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728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887200" y="457200"/>
            <a:ext cx="7315" cy="59436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572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9144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3716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18288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2860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7432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2004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6576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54864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5943600"/>
            <a:ext cx="11247120" cy="7315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794760" y="658368"/>
            <a:ext cx="4617720" cy="310896"/>
          </a:xfrm>
          <a:prstGeom prst="roundRect">
            <a:avLst/>
          </a:prstGeom>
          <a:solidFill>
            <a:srgbClr val="071F3D"/>
          </a:solidFill>
          <a:ln w="12700">
            <a:solidFill>
              <a:srgbClr val="18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67912" y="694944"/>
            <a:ext cx="4471416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2D3EE"/>
                </a:solidFill>
                <a:latin typeface="Aptos"/>
              </a:rPr>
              <a:t>SANGYAN HACKATHON  •  DIGITAL FRAUD &amp; SCAM RESILIENCE</a:t>
            </a:r>
          </a:p>
        </p:txBody>
      </p:sp>
      <p:sp>
        <p:nvSpPr>
          <p:cNvPr id="33" name="Oval 32"/>
          <p:cNvSpPr/>
          <p:nvPr/>
        </p:nvSpPr>
        <p:spPr>
          <a:xfrm>
            <a:off x="5623560" y="132588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23560" y="1344168"/>
            <a:ext cx="914400" cy="8961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8FAFC"/>
                </a:solidFill>
                <a:latin typeface="Aptos"/>
              </a:rPr>
              <a:t>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2359152"/>
            <a:ext cx="544068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3600" b="1">
                <a:solidFill>
                  <a:srgbClr val="F8FAFC"/>
                </a:solidFill>
                <a:latin typeface="Aptos Display"/>
              </a:rPr>
              <a:t>RAKSHAK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2999232"/>
            <a:ext cx="534924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Aptos Display"/>
              </a:rPr>
              <a:t>Detect. Understand. Stay Safe.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3584448"/>
            <a:ext cx="626364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400" b="0">
                <a:solidFill>
                  <a:srgbClr val="9FAEC2"/>
                </a:solidFill>
                <a:latin typeface="Aptos"/>
              </a:rPr>
              <a:t>AI-powered investor scam &amp; misinformation shield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23160" y="4297680"/>
            <a:ext cx="7315200" cy="1005840"/>
          </a:xfrm>
          <a:prstGeom prst="roundRect">
            <a:avLst/>
          </a:prstGeom>
          <a:solidFill>
            <a:srgbClr val="051428"/>
          </a:solidFill>
          <a:ln w="12700">
            <a:solidFill>
              <a:srgbClr val="1D4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0" y="4526280"/>
            <a:ext cx="667512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Turn suspicious financial content into an evidence-first safety report.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31920" y="5623560"/>
            <a:ext cx="914400" cy="310896"/>
          </a:xfrm>
          <a:prstGeom prst="roundRect">
            <a:avLst/>
          </a:prstGeom>
          <a:solidFill>
            <a:srgbClr val="092241"/>
          </a:solidFill>
          <a:ln w="12700">
            <a:solidFill>
              <a:srgbClr val="18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05072" y="5660136"/>
            <a:ext cx="768096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3B82F6"/>
                </a:solidFill>
                <a:latin typeface="Aptos"/>
              </a:rPr>
              <a:t>TEXT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83480" y="5623560"/>
            <a:ext cx="1325880" cy="310896"/>
          </a:xfrm>
          <a:prstGeom prst="roundRect">
            <a:avLst/>
          </a:prstGeom>
          <a:solidFill>
            <a:srgbClr val="092241"/>
          </a:solidFill>
          <a:ln w="12700">
            <a:solidFill>
              <a:srgbClr val="18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56632" y="5660136"/>
            <a:ext cx="1179576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2D3EE"/>
                </a:solidFill>
                <a:latin typeface="Aptos"/>
              </a:rPr>
              <a:t>SCREENSHOT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46520" y="5623560"/>
            <a:ext cx="777240" cy="310896"/>
          </a:xfrm>
          <a:prstGeom prst="roundRect">
            <a:avLst/>
          </a:prstGeom>
          <a:solidFill>
            <a:srgbClr val="092241"/>
          </a:solidFill>
          <a:ln w="12700">
            <a:solidFill>
              <a:srgbClr val="18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19672" y="5660136"/>
            <a:ext cx="630936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A78BFA"/>
                </a:solidFill>
                <a:latin typeface="Aptos"/>
              </a:rPr>
              <a:t>URL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473952"/>
            <a:ext cx="5029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E738D"/>
                </a:solidFill>
                <a:latin typeface="Aptos"/>
              </a:rPr>
              <a:t>SANGYAN HACKATHON • RAKSHAK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6473952"/>
            <a:ext cx="33832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E738D"/>
                </a:solidFill>
                <a:latin typeface="Aptos"/>
              </a:rPr>
              <a:t>Detect • Understand • Stay 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5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24128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9FAEC2"/>
                </a:solidFill>
                <a:latin typeface="Aptos"/>
              </a:rPr>
              <a:t>The scam journey is fast; verification is slow.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4572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6492240" cy="4434840"/>
          </a:xfrm>
          <a:prstGeom prst="roundRect">
            <a:avLst/>
          </a:prstGeom>
          <a:solidFill>
            <a:srgbClr val="041122"/>
          </a:solidFill>
          <a:ln w="12700">
            <a:solidFill>
              <a:srgbClr val="18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1810512"/>
            <a:ext cx="438912" cy="43891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438912" cy="42062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01368"/>
            <a:ext cx="20116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Digital 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12264"/>
            <a:ext cx="50749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9FAEC2"/>
                </a:solidFill>
                <a:latin typeface="Aptos"/>
              </a:rPr>
              <a:t>WhatsApp • SMS • Social media • Email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2144" y="2286000"/>
            <a:ext cx="0" cy="429768"/>
          </a:xfrm>
          <a:prstGeom prst="line">
            <a:avLst/>
          </a:prstGeom>
          <a:ln w="16510">
            <a:solidFill>
              <a:srgbClr val="2A4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32688" y="2798064"/>
            <a:ext cx="438912" cy="43891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816352"/>
            <a:ext cx="438912" cy="42062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88920"/>
            <a:ext cx="20116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Manipulative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99816"/>
            <a:ext cx="50749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9FAEC2"/>
                </a:solidFill>
                <a:latin typeface="Aptos"/>
              </a:rPr>
              <a:t>Guaranteed returns • urgency • scarcity • fake authority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52144" y="3273552"/>
            <a:ext cx="0" cy="429768"/>
          </a:xfrm>
          <a:prstGeom prst="line">
            <a:avLst/>
          </a:prstGeom>
          <a:ln w="16510">
            <a:solidFill>
              <a:srgbClr val="2A4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32688" y="3785616"/>
            <a:ext cx="438912" cy="43891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803904"/>
            <a:ext cx="438912" cy="42062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76472"/>
            <a:ext cx="20116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Investor confusion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87368"/>
            <a:ext cx="50749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9FAEC2"/>
                </a:solidFill>
                <a:latin typeface="Aptos"/>
              </a:rPr>
              <a:t>“Is this legitimate? How do I verify it?”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52144" y="4261104"/>
            <a:ext cx="0" cy="429768"/>
          </a:xfrm>
          <a:prstGeom prst="line">
            <a:avLst/>
          </a:prstGeom>
          <a:ln w="16510">
            <a:solidFill>
              <a:srgbClr val="2A4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32688" y="4773168"/>
            <a:ext cx="438912" cy="43891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791456"/>
            <a:ext cx="438912" cy="42062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764024"/>
            <a:ext cx="20116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Potential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074920"/>
            <a:ext cx="50749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9FAEC2"/>
                </a:solidFill>
                <a:latin typeface="Aptos"/>
              </a:rPr>
              <a:t>Money • credentials • trust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1554480"/>
            <a:ext cx="4069080" cy="4434840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90688" y="1828800"/>
            <a:ext cx="33832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What scammers exploit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54112" y="2331720"/>
            <a:ext cx="3429000" cy="557784"/>
          </a:xfrm>
          <a:prstGeom prst="roundRect">
            <a:avLst/>
          </a:prstGeom>
          <a:solidFill>
            <a:srgbClr val="061428"/>
          </a:solidFill>
          <a:ln w="12700">
            <a:solidFill>
              <a:srgbClr val="16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27848" y="2423160"/>
            <a:ext cx="123444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F87171"/>
                </a:solidFill>
                <a:latin typeface="Aptos"/>
              </a:rPr>
              <a:t>GUARANTEED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42316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“30% monthly”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54112" y="3044952"/>
            <a:ext cx="3429000" cy="557784"/>
          </a:xfrm>
          <a:prstGeom prst="roundRect">
            <a:avLst/>
          </a:prstGeom>
          <a:solidFill>
            <a:srgbClr val="061428"/>
          </a:solidFill>
          <a:ln w="12700">
            <a:solidFill>
              <a:srgbClr val="16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27848" y="3136392"/>
            <a:ext cx="123444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FBBF24"/>
                </a:solidFill>
                <a:latin typeface="Aptos"/>
              </a:rPr>
              <a:t>URGENCY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136392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“Send today”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54112" y="3758183"/>
            <a:ext cx="3429000" cy="557784"/>
          </a:xfrm>
          <a:prstGeom prst="roundRect">
            <a:avLst/>
          </a:prstGeom>
          <a:solidFill>
            <a:srgbClr val="061428"/>
          </a:solidFill>
          <a:ln w="12700">
            <a:solidFill>
              <a:srgbClr val="16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27848" y="3849623"/>
            <a:ext cx="123444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A78BFA"/>
                </a:solidFill>
                <a:latin typeface="Aptos"/>
              </a:rPr>
              <a:t>AUTHORITY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849623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“Officially approved”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54112" y="4471416"/>
            <a:ext cx="3429000" cy="557784"/>
          </a:xfrm>
          <a:prstGeom prst="roundRect">
            <a:avLst/>
          </a:prstGeom>
          <a:solidFill>
            <a:srgbClr val="061428"/>
          </a:solidFill>
          <a:ln w="12700">
            <a:solidFill>
              <a:srgbClr val="16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27848" y="4562855"/>
            <a:ext cx="123444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2D3EE"/>
                </a:solidFill>
                <a:latin typeface="Aptos"/>
              </a:rPr>
              <a:t>SCARCITY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562855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“Only 5 slots”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0688" y="5349240"/>
            <a:ext cx="9144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The gap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0688" y="5623560"/>
            <a:ext cx="34290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Binary warnings tell users WHAT to fear — not WHY.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73952"/>
            <a:ext cx="5029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E738D"/>
                </a:solidFill>
                <a:latin typeface="Aptos"/>
              </a:rPr>
              <a:t>SANGYAN HACKATHON • RAKSHAK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6473952"/>
            <a:ext cx="33832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E738D"/>
                </a:solidFill>
                <a:latin typeface="Aptos"/>
              </a:rPr>
              <a:t>Detect • Understand • Stay Safe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5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24128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Rakshak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9FAEC2"/>
                </a:solidFill>
                <a:latin typeface="Aptos"/>
              </a:rPr>
              <a:t>An evidence-first safety layer between suspicious content and investor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4572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691640" cy="1965960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61872" y="2139696"/>
            <a:ext cx="530352" cy="5303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157984"/>
            <a:ext cx="530352" cy="51206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98064"/>
            <a:ext cx="14173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63824"/>
            <a:ext cx="141732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19" b="0">
                <a:solidFill>
                  <a:srgbClr val="9FAEC2"/>
                </a:solidFill>
                <a:latin typeface="Aptos"/>
              </a:rPr>
              <a:t>Message • Screenshot • URL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898648"/>
            <a:ext cx="475488" cy="0"/>
          </a:xfrm>
          <a:prstGeom prst="line">
            <a:avLst/>
          </a:prstGeom>
          <a:ln w="2286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71800" y="1920240"/>
            <a:ext cx="1691640" cy="1965960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47872" y="2139696"/>
            <a:ext cx="530352" cy="53035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2157984"/>
            <a:ext cx="530352" cy="51206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98064"/>
            <a:ext cx="14173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22D3EE"/>
                </a:solidFill>
                <a:latin typeface="Aptos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63824"/>
            <a:ext cx="141732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19" b="0">
                <a:solidFill>
                  <a:srgbClr val="9FAEC2"/>
                </a:solidFill>
                <a:latin typeface="Aptos"/>
              </a:rPr>
              <a:t>Rules + pattern signals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09160" y="2898648"/>
            <a:ext cx="475488" cy="0"/>
          </a:xfrm>
          <a:prstGeom prst="line">
            <a:avLst/>
          </a:prstGeom>
          <a:ln w="2286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57800" y="1920240"/>
            <a:ext cx="1691640" cy="1965960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33872" y="2139696"/>
            <a:ext cx="530352" cy="53035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33872" y="2157984"/>
            <a:ext cx="530352" cy="51206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798064"/>
            <a:ext cx="14173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A78BFA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163824"/>
            <a:ext cx="141732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19" b="0">
                <a:solidFill>
                  <a:srgbClr val="9FAEC2"/>
                </a:solidFill>
                <a:latin typeface="Aptos"/>
              </a:rPr>
              <a:t>Exact suspicious phrases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95160" y="2898648"/>
            <a:ext cx="475488" cy="0"/>
          </a:xfrm>
          <a:prstGeom prst="line">
            <a:avLst/>
          </a:prstGeom>
          <a:ln w="2286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43800" y="1920240"/>
            <a:ext cx="1691640" cy="1965960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19872" y="2139696"/>
            <a:ext cx="530352" cy="5303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19872" y="2157984"/>
            <a:ext cx="530352" cy="51206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798064"/>
            <a:ext cx="14173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Aptos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163824"/>
            <a:ext cx="141732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19" b="0">
                <a:solidFill>
                  <a:srgbClr val="9FAEC2"/>
                </a:solidFill>
                <a:latin typeface="Aptos"/>
              </a:rPr>
              <a:t>Plain-English reasoning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81160" y="2898648"/>
            <a:ext cx="475488" cy="0"/>
          </a:xfrm>
          <a:prstGeom prst="line">
            <a:avLst/>
          </a:prstGeom>
          <a:ln w="2286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29800" y="1920240"/>
            <a:ext cx="1691640" cy="1965960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405872" y="2139696"/>
            <a:ext cx="530352" cy="53035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05872" y="2157984"/>
            <a:ext cx="530352" cy="51206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798064"/>
            <a:ext cx="14173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  <a:latin typeface="Aptos"/>
              </a:rPr>
              <a:t>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163824"/>
            <a:ext cx="141732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19" b="0">
                <a:solidFill>
                  <a:srgbClr val="9FAEC2"/>
                </a:solidFill>
                <a:latin typeface="Aptos"/>
              </a:rPr>
              <a:t>Safe next steps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434840"/>
            <a:ext cx="3429000" cy="1097280"/>
          </a:xfrm>
          <a:prstGeom prst="roundRect">
            <a:avLst/>
          </a:prstGeom>
          <a:solidFill>
            <a:srgbClr val="051428"/>
          </a:solidFill>
          <a:ln w="12700">
            <a:solidFill>
              <a:srgbClr val="18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645152"/>
            <a:ext cx="30632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Aptos"/>
              </a:rPr>
              <a:t>Not just a label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983480"/>
            <a:ext cx="30175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9FAEC2"/>
                </a:solidFill>
                <a:latin typeface="Aptos"/>
              </a:rPr>
              <a:t>Shows the exact evidence behind each warning.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4434840"/>
            <a:ext cx="3429000" cy="1097280"/>
          </a:xfrm>
          <a:prstGeom prst="roundRect">
            <a:avLst/>
          </a:prstGeom>
          <a:solidFill>
            <a:srgbClr val="051428"/>
          </a:solidFill>
          <a:ln w="12700">
            <a:solidFill>
              <a:srgbClr val="18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09160" y="4645152"/>
            <a:ext cx="30632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Aptos"/>
              </a:rPr>
              <a:t>Safety by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4983480"/>
            <a:ext cx="30175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9FAEC2"/>
                </a:solidFill>
                <a:latin typeface="Aptos"/>
              </a:rPr>
              <a:t>No stock tips, buy/sell calls or price predictions.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434840"/>
            <a:ext cx="3429000" cy="1097280"/>
          </a:xfrm>
          <a:prstGeom prst="roundRect">
            <a:avLst/>
          </a:prstGeom>
          <a:solidFill>
            <a:srgbClr val="051428"/>
          </a:solidFill>
          <a:ln w="12700">
            <a:solidFill>
              <a:srgbClr val="18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0" y="4645152"/>
            <a:ext cx="30632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Actionable clarity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983480"/>
            <a:ext cx="30175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9FAEC2"/>
                </a:solidFill>
                <a:latin typeface="Aptos"/>
              </a:rPr>
              <a:t>Turns technical red flags into understandable steps.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797296"/>
            <a:ext cx="10972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5E738D"/>
                </a:solidFill>
                <a:latin typeface="Aptos"/>
              </a:rPr>
              <a:t>CORE VALUE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5705856"/>
            <a:ext cx="896112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“Before you invest, understand what you’re seeing.”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473952"/>
            <a:ext cx="5029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E738D"/>
                </a:solidFill>
                <a:latin typeface="Aptos"/>
              </a:rPr>
              <a:t>SANGYAN HACKATHON • RAKSHAK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6473952"/>
            <a:ext cx="33832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E738D"/>
                </a:solidFill>
                <a:latin typeface="Aptos"/>
              </a:rPr>
              <a:t>Detect • Understand • Stay Safe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5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24128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9FAEC2"/>
                </a:solidFill>
                <a:latin typeface="Aptos"/>
              </a:rPr>
              <a:t>A resilient pipeline: deterministic detection first, contextual explanation second.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4572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2148840" cy="914400"/>
          </a:xfrm>
          <a:prstGeom prst="roundRect">
            <a:avLst/>
          </a:prstGeom>
          <a:solidFill>
            <a:srgbClr val="071D3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69164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6596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React + TypeScript +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508760"/>
            <a:ext cx="2148840" cy="914400"/>
          </a:xfrm>
          <a:prstGeom prst="roundRect">
            <a:avLst/>
          </a:prstGeom>
          <a:solidFill>
            <a:srgbClr val="071D3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69164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D3EE"/>
                </a:solidFill>
                <a:latin typeface="Aptos"/>
              </a:rP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96596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FastAPI /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3872" y="1508760"/>
            <a:ext cx="2148840" cy="914400"/>
          </a:xfrm>
          <a:prstGeom prst="roundRect">
            <a:avLst/>
          </a:prstGeom>
          <a:solidFill>
            <a:srgbClr val="071D3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16752" y="169164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196596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Rules + OCR + 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21624" y="1508760"/>
            <a:ext cx="2148840" cy="914400"/>
          </a:xfrm>
          <a:prstGeom prst="roundRect">
            <a:avLst/>
          </a:prstGeom>
          <a:solidFill>
            <a:srgbClr val="071D3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169164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A78BFA"/>
                </a:solidFill>
                <a:latin typeface="Aptos"/>
              </a:rPr>
              <a:t>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196596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AI + demo mode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07208" y="1965960"/>
            <a:ext cx="438912" cy="0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94960" y="1965960"/>
            <a:ext cx="438912" cy="0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82712" y="1965960"/>
            <a:ext cx="438912" cy="0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874519" y="2971800"/>
            <a:ext cx="8458200" cy="960120"/>
          </a:xfrm>
          <a:prstGeom prst="roundRect">
            <a:avLst/>
          </a:prstGeom>
          <a:solidFill>
            <a:srgbClr val="06182E"/>
          </a:solidFill>
          <a:ln w="12700">
            <a:solidFill>
              <a:srgbClr val="265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48840" y="3182112"/>
            <a:ext cx="25603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DETERMINISTIC RISK SCORER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182112"/>
            <a:ext cx="53035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9FAEC2"/>
                </a:solidFill>
                <a:latin typeface="Aptos"/>
              </a:rPr>
              <a:t>0–100 heuristic safety indicator  •  signal weights  •  evidence pins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2441448"/>
            <a:ext cx="0" cy="530352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58368" y="4526280"/>
            <a:ext cx="2487168" cy="960120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8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4736592"/>
            <a:ext cx="2212848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3B82F6"/>
                </a:solidFill>
                <a:latin typeface="Aptos"/>
              </a:rPr>
              <a:t>SAFETY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5056632"/>
            <a:ext cx="221284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80" b="0">
                <a:solidFill>
                  <a:srgbClr val="9FAEC2"/>
                </a:solidFill>
                <a:latin typeface="Aptos"/>
              </a:rPr>
              <a:t>Risk level + score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901952" y="3931920"/>
            <a:ext cx="4197096" cy="594360"/>
          </a:xfrm>
          <a:prstGeom prst="line">
            <a:avLst/>
          </a:prstGeom>
          <a:ln w="13970">
            <a:solidFill>
              <a:srgbClr val="2E5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511296" y="4526280"/>
            <a:ext cx="2487168" cy="960120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8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48456" y="4736592"/>
            <a:ext cx="2212848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F87171"/>
                </a:solidFill>
                <a:latin typeface="Aptos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48456" y="5056632"/>
            <a:ext cx="221284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80" b="0">
                <a:solidFill>
                  <a:srgbClr val="9FAEC2"/>
                </a:solidFill>
                <a:latin typeface="Aptos"/>
              </a:rPr>
              <a:t>Exact quoted text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754880" y="3931920"/>
            <a:ext cx="1344168" cy="594360"/>
          </a:xfrm>
          <a:prstGeom prst="line">
            <a:avLst/>
          </a:prstGeom>
          <a:ln w="13970">
            <a:solidFill>
              <a:srgbClr val="2E5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64224" y="4526280"/>
            <a:ext cx="2487168" cy="960120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8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01384" y="4736592"/>
            <a:ext cx="2212848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34D399"/>
                </a:solidFill>
                <a:latin typeface="Aptos"/>
              </a:rPr>
              <a:t>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1384" y="5056632"/>
            <a:ext cx="221284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80" b="0">
                <a:solidFill>
                  <a:srgbClr val="9FAEC2"/>
                </a:solidFill>
                <a:latin typeface="Aptos"/>
              </a:rPr>
              <a:t>Safe verification actions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9048" y="3931920"/>
            <a:ext cx="1508760" cy="594360"/>
          </a:xfrm>
          <a:prstGeom prst="line">
            <a:avLst/>
          </a:prstGeom>
          <a:ln w="13970">
            <a:solidFill>
              <a:srgbClr val="2E5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217152" y="4526280"/>
            <a:ext cx="2487168" cy="960120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8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54312" y="4736592"/>
            <a:ext cx="2212848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A78BFA"/>
                </a:solidFill>
                <a:latin typeface="Aptos"/>
              </a:rPr>
              <a:t>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4312" y="5056632"/>
            <a:ext cx="221284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80" b="0">
                <a:solidFill>
                  <a:srgbClr val="9FAEC2"/>
                </a:solidFill>
                <a:latin typeface="Aptos"/>
              </a:rPr>
              <a:t>SQLite scan history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99048" y="3931920"/>
            <a:ext cx="4361688" cy="594360"/>
          </a:xfrm>
          <a:prstGeom prst="line">
            <a:avLst/>
          </a:prstGeom>
          <a:ln w="13970">
            <a:solidFill>
              <a:srgbClr val="2E5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473952"/>
            <a:ext cx="5029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E738D"/>
                </a:solidFill>
                <a:latin typeface="Aptos"/>
              </a:rPr>
              <a:t>SANGYAN HACKATHON • RAKSHAK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6473952"/>
            <a:ext cx="33832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E738D"/>
                </a:solidFill>
                <a:latin typeface="Aptos"/>
              </a:rPr>
              <a:t>Detect • Understand • Stay Safe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5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24128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Prototype: From Message to Safety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9FAEC2"/>
                </a:solidFill>
                <a:latin typeface="Aptos"/>
              </a:rPr>
              <a:t>The working interface is designed around a 3-step investor journey.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4572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520440" cy="2240280"/>
          </a:xfrm>
          <a:prstGeom prst="roundRect">
            <a:avLst/>
          </a:prstGeom>
          <a:solidFill>
            <a:srgbClr val="051122"/>
          </a:solidFill>
          <a:ln w="12700">
            <a:solidFill>
              <a:srgbClr val="19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7c4bc52-455c-4d7e-a01d-3bda0e34e1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490472"/>
            <a:ext cx="3374136" cy="18105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3300984"/>
            <a:ext cx="3520440" cy="356616"/>
          </a:xfrm>
          <a:prstGeom prst="rect">
            <a:avLst/>
          </a:prstGeom>
          <a:solidFill>
            <a:srgbClr val="04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3346704"/>
            <a:ext cx="3300984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Aptos"/>
              </a:rPr>
              <a:t>01  •  Landing / threat-first 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17320"/>
            <a:ext cx="36576" cy="2240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34256" y="1417320"/>
            <a:ext cx="3520440" cy="2240280"/>
          </a:xfrm>
          <a:prstGeom prst="roundRect">
            <a:avLst/>
          </a:prstGeom>
          <a:solidFill>
            <a:srgbClr val="051122"/>
          </a:solidFill>
          <a:ln w="12700">
            <a:solidFill>
              <a:srgbClr val="19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2ce50083-3f2c-4cc2-811d-2322b1a795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490472"/>
            <a:ext cx="3374136" cy="18105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334256" y="3300984"/>
            <a:ext cx="3520440" cy="356616"/>
          </a:xfrm>
          <a:prstGeom prst="rect">
            <a:avLst/>
          </a:prstGeom>
          <a:solidFill>
            <a:srgbClr val="04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43984" y="3346704"/>
            <a:ext cx="3300984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Aptos"/>
              </a:rPr>
              <a:t>02  •  Multimodal analyzer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1417320"/>
            <a:ext cx="36576" cy="2240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10144" y="1417320"/>
            <a:ext cx="3520440" cy="2240280"/>
          </a:xfrm>
          <a:prstGeom prst="roundRect">
            <a:avLst/>
          </a:prstGeom>
          <a:solidFill>
            <a:srgbClr val="051122"/>
          </a:solidFill>
          <a:ln w="12700">
            <a:solidFill>
              <a:srgbClr val="19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4b368e49-6cbf-4b88-bb74-73121ff3d1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490472"/>
            <a:ext cx="3374136" cy="181051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010144" y="3300984"/>
            <a:ext cx="3520440" cy="356616"/>
          </a:xfrm>
          <a:prstGeom prst="rect">
            <a:avLst/>
          </a:prstGeom>
          <a:solidFill>
            <a:srgbClr val="04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9871" y="3346704"/>
            <a:ext cx="3300984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Aptos"/>
              </a:rPr>
              <a:t>03  •  Evidence &amp; warning signals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1417320"/>
            <a:ext cx="36576" cy="22402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8368" y="4005072"/>
            <a:ext cx="10972800" cy="1600200"/>
          </a:xfrm>
          <a:prstGeom prst="roundRect">
            <a:avLst/>
          </a:prstGeom>
          <a:solidFill>
            <a:srgbClr val="051224"/>
          </a:solidFill>
          <a:ln w="12700">
            <a:solidFill>
              <a:srgbClr val="1D4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270248"/>
            <a:ext cx="146304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2D3EE"/>
                </a:solidFill>
                <a:latin typeface="Aptos"/>
              </a:rPr>
              <a:t>DEMO SCENARIO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169663"/>
            <a:ext cx="882396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“Guaranteed 30% monthly return… Send ₹25,000 today… officially approved… only 5 slots.”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800600"/>
            <a:ext cx="1097280" cy="310896"/>
          </a:xfrm>
          <a:prstGeom prst="roundRect">
            <a:avLst/>
          </a:prstGeom>
          <a:solidFill>
            <a:srgbClr val="401623"/>
          </a:solidFill>
          <a:ln w="12700">
            <a:solidFill>
              <a:srgbClr val="18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4837176"/>
            <a:ext cx="950976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F87171"/>
                </a:solidFill>
                <a:latin typeface="Aptos"/>
              </a:rPr>
              <a:t>HIGH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782312"/>
            <a:ext cx="11430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91 /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4809744"/>
            <a:ext cx="7543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80" b="0">
                <a:solidFill>
                  <a:srgbClr val="9FAEC2"/>
                </a:solidFill>
                <a:latin typeface="Aptos"/>
              </a:rPr>
              <a:t>Signals: guaranteed return • urgency • payment request • authority claim • scarcity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30368"/>
            <a:ext cx="98755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The product explains the evidence instead of asking the investor to trust an opaque AI verdict.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5029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E738D"/>
                </a:solidFill>
                <a:latin typeface="Aptos"/>
              </a:rPr>
              <a:t>SANGYAN HACKATHON • RAKSHAK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6473952"/>
            <a:ext cx="33832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E738D"/>
                </a:solidFill>
                <a:latin typeface="Aptos"/>
              </a:rPr>
              <a:t>Detect • Understand • Stay Safe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5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24128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The Evidence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9FAEC2"/>
                </a:solidFill>
                <a:latin typeface="Aptos"/>
              </a:rPr>
              <a:t>Rakshak shows the phrase, the signal, and the reason —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4572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709160" cy="4480560"/>
          </a:xfrm>
          <a:prstGeom prst="roundRect">
            <a:avLst/>
          </a:prstGeom>
          <a:solidFill>
            <a:srgbClr val="05122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82496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SUSPICIOUS MESSAGE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2112264"/>
            <a:ext cx="4187952" cy="530352"/>
          </a:xfrm>
          <a:prstGeom prst="roundRect">
            <a:avLst/>
          </a:prstGeom>
          <a:solidFill>
            <a:srgbClr val="071930"/>
          </a:solidFill>
          <a:ln w="1270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203704"/>
            <a:ext cx="384048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Exclusive investment opportunity.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" y="2807208"/>
            <a:ext cx="4187952" cy="530352"/>
          </a:xfrm>
          <a:prstGeom prst="roundRect">
            <a:avLst/>
          </a:prstGeom>
          <a:solidFill>
            <a:srgbClr val="071930"/>
          </a:solidFill>
          <a:ln w="1270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898648"/>
            <a:ext cx="384048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87171"/>
                </a:solidFill>
                <a:latin typeface="Aptos"/>
              </a:rPr>
              <a:t>Earn a guaranteed 30% monthly return.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3502152"/>
            <a:ext cx="4187952" cy="530352"/>
          </a:xfrm>
          <a:prstGeom prst="roundRect">
            <a:avLst/>
          </a:prstGeom>
          <a:solidFill>
            <a:srgbClr val="071930"/>
          </a:solidFill>
          <a:ln w="1270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593592"/>
            <a:ext cx="384048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A78BFA"/>
                </a:solidFill>
                <a:latin typeface="Aptos"/>
              </a:rPr>
              <a:t>This opportunity is officially approved.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4197096"/>
            <a:ext cx="4187952" cy="530352"/>
          </a:xfrm>
          <a:prstGeom prst="roundRect">
            <a:avLst/>
          </a:prstGeom>
          <a:solidFill>
            <a:srgbClr val="071930"/>
          </a:solidFill>
          <a:ln w="1270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288536"/>
            <a:ext cx="384048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BBF24"/>
                </a:solidFill>
                <a:latin typeface="Aptos"/>
              </a:rPr>
              <a:t>Send ₹25,000 today to activate your account.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" y="4892040"/>
            <a:ext cx="4187952" cy="530352"/>
          </a:xfrm>
          <a:prstGeom prst="roundRect">
            <a:avLst/>
          </a:prstGeom>
          <a:solidFill>
            <a:srgbClr val="071930"/>
          </a:solidFill>
          <a:ln w="1270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983479"/>
            <a:ext cx="384048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22D3EE"/>
                </a:solidFill>
                <a:latin typeface="Aptos"/>
              </a:rPr>
              <a:t>Only 5 slots remain.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417320"/>
            <a:ext cx="5806440" cy="987552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1888" y="1545336"/>
            <a:ext cx="1874519" cy="2103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F87171"/>
                </a:solidFill>
                <a:latin typeface="Aptos"/>
              </a:rPr>
              <a:t>GUARANTEED 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1517904"/>
            <a:ext cx="32918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“guaranteed 30% monthly”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1837944"/>
            <a:ext cx="3291840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9FAEC2"/>
                </a:solidFill>
                <a:latin typeface="Aptos"/>
              </a:rPr>
              <a:t>Promises a fixed outcome with no uncertainty.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514600"/>
            <a:ext cx="5806440" cy="987552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61888" y="2642616"/>
            <a:ext cx="1874519" cy="2103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A78BFA"/>
                </a:solidFill>
                <a:latin typeface="Aptos"/>
              </a:rPr>
              <a:t>AUTHORITY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2615184"/>
            <a:ext cx="32918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“officially approved”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2935224"/>
            <a:ext cx="3291840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9FAEC2"/>
                </a:solidFill>
                <a:latin typeface="Aptos"/>
              </a:rPr>
              <a:t>Uses official-sounding language without verification evidence.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3611880"/>
            <a:ext cx="5806440" cy="987552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61888" y="3739896"/>
            <a:ext cx="1874519" cy="2103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FBBF24"/>
                </a:solidFill>
                <a:latin typeface="Aptos"/>
              </a:rPr>
              <a:t>URGENCY / PAYMENT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3712464"/>
            <a:ext cx="32918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“Send ₹25,000 today”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4032504"/>
            <a:ext cx="3291840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9FAEC2"/>
                </a:solidFill>
                <a:latin typeface="Aptos"/>
              </a:rPr>
              <a:t>Pressures immediate payment before independent verification.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4709160"/>
            <a:ext cx="5806440" cy="987552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61888" y="4837176"/>
            <a:ext cx="1874519" cy="2103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2D3EE"/>
                </a:solidFill>
                <a:latin typeface="Aptos"/>
              </a:rPr>
              <a:t>SCARCITY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4809744"/>
            <a:ext cx="32918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“Only 5 slots remain”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5129784"/>
            <a:ext cx="3291840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40" b="0">
                <a:solidFill>
                  <a:srgbClr val="9FAEC2"/>
                </a:solidFill>
                <a:latin typeface="Aptos"/>
              </a:rPr>
              <a:t>Creates artificial pressure to act quickly.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73952"/>
            <a:ext cx="5029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E738D"/>
                </a:solidFill>
                <a:latin typeface="Aptos"/>
              </a:rPr>
              <a:t>SANGYAN HACKATHON • RAKSHAK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6473952"/>
            <a:ext cx="33832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E738D"/>
                </a:solidFill>
                <a:latin typeface="Aptos"/>
              </a:rPr>
              <a:t>Detect • Understand • Stay Safe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5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24128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Investor Education + Safe Assistance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9FAEC2"/>
                </a:solidFill>
                <a:latin typeface="Aptos"/>
              </a:rPr>
              <a:t>Protection should continue after the warning.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4572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5486400" cy="4526280"/>
          </a:xfrm>
          <a:prstGeom prst="roundRect">
            <a:avLst/>
          </a:prstGeom>
          <a:solidFill>
            <a:srgbClr val="051122"/>
          </a:solidFill>
          <a:ln w="12700">
            <a:solidFill>
              <a:srgbClr val="19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8413bbd-8f78-4f02-b505-9019a1e9d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463040"/>
            <a:ext cx="5340096" cy="40965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8912" y="5561584"/>
            <a:ext cx="5486400" cy="356616"/>
          </a:xfrm>
          <a:prstGeom prst="rect">
            <a:avLst/>
          </a:prstGeom>
          <a:solidFill>
            <a:srgbClr val="04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5605272"/>
            <a:ext cx="5266944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Aptos"/>
              </a:rPr>
              <a:t>Education hub • explain the tactic, then verify independently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389888"/>
            <a:ext cx="36576" cy="4526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27648" y="1389888"/>
            <a:ext cx="5303520" cy="4526280"/>
          </a:xfrm>
          <a:prstGeom prst="roundRect">
            <a:avLst/>
          </a:prstGeom>
          <a:solidFill>
            <a:srgbClr val="051122"/>
          </a:solidFill>
          <a:ln w="12700">
            <a:solidFill>
              <a:srgbClr val="19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90395107-0a81-48bc-899c-260097d78d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157216" cy="40965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27648" y="5559552"/>
            <a:ext cx="5303520" cy="356616"/>
          </a:xfrm>
          <a:prstGeom prst="rect">
            <a:avLst/>
          </a:prstGeom>
          <a:solidFill>
            <a:srgbClr val="04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5605272"/>
            <a:ext cx="5084064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Aptos"/>
              </a:rPr>
              <a:t>Ask Rakshak • contextual safety explanations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389888"/>
            <a:ext cx="36576" cy="4526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" y="6053328"/>
            <a:ext cx="914400" cy="310896"/>
          </a:xfrm>
          <a:prstGeom prst="roundRect">
            <a:avLst/>
          </a:prstGeom>
          <a:solidFill>
            <a:srgbClr val="081E3A"/>
          </a:solidFill>
          <a:ln w="12700">
            <a:solidFill>
              <a:srgbClr val="18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6089904"/>
            <a:ext cx="768096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2D3EE"/>
                </a:solidFill>
                <a:latin typeface="Aptos"/>
              </a:rPr>
              <a:t>EXPLAIN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6053328"/>
            <a:ext cx="914400" cy="310896"/>
          </a:xfrm>
          <a:prstGeom prst="roundRect">
            <a:avLst/>
          </a:prstGeom>
          <a:solidFill>
            <a:srgbClr val="081E3A"/>
          </a:solidFill>
          <a:ln w="12700">
            <a:solidFill>
              <a:srgbClr val="18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93392" y="6089904"/>
            <a:ext cx="768096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34D399"/>
                </a:solidFill>
                <a:latin typeface="Aptos"/>
              </a:rPr>
              <a:t>VERIFY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6053328"/>
            <a:ext cx="1143000" cy="310896"/>
          </a:xfrm>
          <a:prstGeom prst="roundRect">
            <a:avLst/>
          </a:prstGeom>
          <a:solidFill>
            <a:srgbClr val="081E3A"/>
          </a:solidFill>
          <a:ln w="12700">
            <a:solidFill>
              <a:srgbClr val="18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44952" y="6089904"/>
            <a:ext cx="996696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FBBF24"/>
                </a:solidFill>
                <a:latin typeface="Aptos"/>
              </a:rPr>
              <a:t>DON’T RUSH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73952"/>
            <a:ext cx="5029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E738D"/>
                </a:solidFill>
                <a:latin typeface="Aptos"/>
              </a:rPr>
              <a:t>SANGYAN HACKATHON • RAKSHAK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473952"/>
            <a:ext cx="33832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E738D"/>
                </a:solidFill>
                <a:latin typeface="Aptos"/>
              </a:rPr>
              <a:t>Detect • Understand • Stay Safe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5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24128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Why Rakshak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9FAEC2"/>
                </a:solidFill>
                <a:latin typeface="Aptos"/>
              </a:rPr>
              <a:t>Five design decisions that make the prototype safer and more defensible.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4572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078992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664208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682496"/>
            <a:ext cx="457200" cy="4389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00200"/>
            <a:ext cx="2286000" cy="2468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EVIDENCE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29384"/>
            <a:ext cx="416052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Exact quotes + named warning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257800" cy="1078992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73952" y="1664208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682496"/>
            <a:ext cx="457200" cy="4389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00200"/>
            <a:ext cx="2286000" cy="2468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Aptos"/>
              </a:rPr>
              <a:t>SAFETY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929384"/>
            <a:ext cx="416052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No tips • no buy/sell • no price 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34640"/>
            <a:ext cx="5257800" cy="1078992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0392" y="3081528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099816"/>
            <a:ext cx="457200" cy="4389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017520"/>
            <a:ext cx="2286000" cy="2468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PLAIN ENGLISH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346704"/>
            <a:ext cx="416052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Jargon becomes understandable 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834640"/>
            <a:ext cx="5257800" cy="1078992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73952" y="3081528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3099816"/>
            <a:ext cx="457200" cy="4389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017520"/>
            <a:ext cx="2286000" cy="2468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Aptos"/>
              </a:rPr>
              <a:t>PRIVACY BY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346704"/>
            <a:ext cx="416052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No OTP, bank credentials or PAN requested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4251960"/>
            <a:ext cx="5257800" cy="1078992"/>
          </a:xfrm>
          <a:prstGeom prst="roundRect">
            <a:avLst/>
          </a:prstGeom>
          <a:solidFill>
            <a:srgbClr val="081B34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639312" y="4498848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39312" y="4517136"/>
            <a:ext cx="457200" cy="4389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4434840"/>
            <a:ext cx="2286000" cy="2468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Aptos"/>
              </a:rPr>
              <a:t>DUAL-MODE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59" y="4764024"/>
            <a:ext cx="416052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Aptos"/>
              </a:rPr>
              <a:t>Deterministic demo mode + optional AI reasoning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742432"/>
            <a:ext cx="11887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5E738D"/>
                </a:solidFill>
                <a:latin typeface="Aptos"/>
              </a:rPr>
              <a:t>Safety principle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5650992"/>
            <a:ext cx="92354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AI helps explain risk signals — it does not decide what the investor should buy.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73952"/>
            <a:ext cx="5029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E738D"/>
                </a:solidFill>
                <a:latin typeface="Aptos"/>
              </a:rPr>
              <a:t>SANGYAN HACKATHON • RAKSHAK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6473952"/>
            <a:ext cx="33832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E738D"/>
                </a:solidFill>
                <a:latin typeface="Aptos"/>
              </a:rPr>
              <a:t>Detect • Understand • Stay Safe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5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24128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Impact &amp;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987552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9FAEC2"/>
                </a:solidFill>
                <a:latin typeface="Aptos"/>
              </a:rPr>
              <a:t>A practical path from hackathon prototype to a broader investor-resilience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457200"/>
            <a:ext cx="4572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100" b="1">
                <a:solidFill>
                  <a:srgbClr val="22D3EE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212080" cy="4526280"/>
          </a:xfrm>
          <a:prstGeom prst="roundRect">
            <a:avLst/>
          </a:prstGeom>
          <a:solidFill>
            <a:srgbClr val="051326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2926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TODAY  •  WORKING PROTOTYPE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203703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1"/>
            <a:ext cx="109728" cy="9143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3856" y="2176272"/>
            <a:ext cx="4233672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Text + screenshot + URL analysis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82549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843784"/>
            <a:ext cx="109728" cy="9143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2798064"/>
            <a:ext cx="4233672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Deterministic 0–100 safety indicator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447288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465576"/>
            <a:ext cx="109728" cy="9143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3856" y="3419856"/>
            <a:ext cx="4233672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Evidence extraction &amp; explanations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6908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087368"/>
            <a:ext cx="109728" cy="9143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4041648"/>
            <a:ext cx="4233672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Investor education hub + checklist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69087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709159"/>
            <a:ext cx="109728" cy="9143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33856" y="4663440"/>
            <a:ext cx="4233672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Interactive safety-only assistant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1417320"/>
            <a:ext cx="5577840" cy="4526280"/>
          </a:xfrm>
          <a:prstGeom prst="roundRect">
            <a:avLst/>
          </a:prstGeom>
          <a:solidFill>
            <a:srgbClr val="051326"/>
          </a:solidFill>
          <a:ln w="12700">
            <a:solidFill>
              <a:srgbClr val="19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7648" y="1700784"/>
            <a:ext cx="2926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Aptos"/>
              </a:rPr>
              <a:t>NEXT  •  SCALE THE SHIELD</a:t>
            </a:r>
          </a:p>
        </p:txBody>
      </p:sp>
      <p:sp>
        <p:nvSpPr>
          <p:cNvPr id="26" name="Oval 25"/>
          <p:cNvSpPr/>
          <p:nvPr/>
        </p:nvSpPr>
        <p:spPr>
          <a:xfrm>
            <a:off x="6345936" y="2203703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45936" y="2221991"/>
            <a:ext cx="109728" cy="9143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47104" y="2176272"/>
            <a:ext cx="4507992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Multilingual Bharat-first support</a:t>
            </a:r>
          </a:p>
        </p:txBody>
      </p:sp>
      <p:sp>
        <p:nvSpPr>
          <p:cNvPr id="29" name="Oval 28"/>
          <p:cNvSpPr/>
          <p:nvPr/>
        </p:nvSpPr>
        <p:spPr>
          <a:xfrm>
            <a:off x="6345936" y="2825496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5936" y="2843784"/>
            <a:ext cx="109728" cy="9143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47104" y="2798064"/>
            <a:ext cx="4507992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Regulatory verification integrations</a:t>
            </a:r>
          </a:p>
        </p:txBody>
      </p:sp>
      <p:sp>
        <p:nvSpPr>
          <p:cNvPr id="32" name="Oval 31"/>
          <p:cNvSpPr/>
          <p:nvPr/>
        </p:nvSpPr>
        <p:spPr>
          <a:xfrm>
            <a:off x="6345936" y="344728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45936" y="3465576"/>
            <a:ext cx="109728" cy="9143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47104" y="3419856"/>
            <a:ext cx="4507992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Deepfake video / voice scam detection</a:t>
            </a:r>
          </a:p>
        </p:txBody>
      </p:sp>
      <p:sp>
        <p:nvSpPr>
          <p:cNvPr id="35" name="Oval 34"/>
          <p:cNvSpPr/>
          <p:nvPr/>
        </p:nvSpPr>
        <p:spPr>
          <a:xfrm>
            <a:off x="6345936" y="406908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45936" y="4087368"/>
            <a:ext cx="109728" cy="9143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47104" y="4041648"/>
            <a:ext cx="4507992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Crowdsourced threat intelligence</a:t>
            </a:r>
          </a:p>
        </p:txBody>
      </p:sp>
      <p:sp>
        <p:nvSpPr>
          <p:cNvPr id="38" name="Oval 37"/>
          <p:cNvSpPr/>
          <p:nvPr/>
        </p:nvSpPr>
        <p:spPr>
          <a:xfrm>
            <a:off x="6345936" y="4690872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45936" y="4709159"/>
            <a:ext cx="109728" cy="9143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47104" y="4663440"/>
            <a:ext cx="4507992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WhatsApp / Telegram safety workflows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" y="5532120"/>
            <a:ext cx="9418320" cy="640080"/>
          </a:xfrm>
          <a:prstGeom prst="roundRect">
            <a:avLst/>
          </a:prstGeom>
          <a:solidFill>
            <a:srgbClr val="071D3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645920" y="5669280"/>
            <a:ext cx="88696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Before you invest, understand what you’re seeing.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73952"/>
            <a:ext cx="5029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5E738D"/>
                </a:solidFill>
                <a:latin typeface="Aptos"/>
              </a:rPr>
              <a:t>SANGYAN HACKATHON • RAKSHAK AI • DIGITAL FRAUD &amp; SCAM RESILIENCE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6473952"/>
            <a:ext cx="338328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5E738D"/>
                </a:solidFill>
                <a:latin typeface="Aptos"/>
              </a:rPr>
              <a:t>Detect • Understand • Stay Safe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797</Words>
  <Application>Microsoft Office PowerPoint</Application>
  <PresentationFormat>Widescreen</PresentationFormat>
  <Paragraphs>177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Vedant Bhalerao</cp:lastModifiedBy>
  <cp:revision>1</cp:revision>
  <dcterms:created xsi:type="dcterms:W3CDTF">2013-01-27T09:14:16Z</dcterms:created>
  <dcterms:modified xsi:type="dcterms:W3CDTF">2026-10-04T17:28:08Z</dcterms:modified>
  <cp:category/>
</cp:coreProperties>
</file>